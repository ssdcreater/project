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3" r:id="rId3"/>
    <p:sldId id="265" r:id="rId4"/>
    <p:sldId id="257" r:id="rId5"/>
    <p:sldId id="264" r:id="rId6"/>
    <p:sldId id="258" r:id="rId7"/>
    <p:sldId id="266" r:id="rId8"/>
    <p:sldId id="259" r:id="rId9"/>
    <p:sldId id="267" r:id="rId10"/>
    <p:sldId id="260"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3" autoAdjust="0"/>
    <p:restoredTop sz="94660"/>
  </p:normalViewPr>
  <p:slideViewPr>
    <p:cSldViewPr snapToGrid="0">
      <p:cViewPr varScale="1">
        <p:scale>
          <a:sx n="87" d="100"/>
          <a:sy n="87" d="100"/>
        </p:scale>
        <p:origin x="485"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05A65C5-18F2-4486-9A8F-71B4310F2900}"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4405003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05A65C5-18F2-4486-9A8F-71B4310F2900}"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23609279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05A65C5-18F2-4486-9A8F-71B4310F2900}"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3380034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05A65C5-18F2-4486-9A8F-71B4310F2900}" type="datetimeFigureOut">
              <a:rPr lang="en-IN" smtClean="0"/>
              <a:t>16-04-2025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3352508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05A65C5-18F2-4486-9A8F-71B4310F2900}" type="datetimeFigureOut">
              <a:rPr lang="en-IN" smtClean="0"/>
              <a:t>16-04-2025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34867304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05A65C5-18F2-4486-9A8F-71B4310F2900}" type="datetimeFigureOut">
              <a:rPr lang="en-IN" smtClean="0"/>
              <a:t>16-04-2025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99546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5A65C5-18F2-4486-9A8F-71B4310F2900}" type="datetimeFigureOut">
              <a:rPr lang="en-IN" smtClean="0"/>
              <a:t>16-04-2025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3081097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5A65C5-18F2-4486-9A8F-71B4310F2900}" type="datetimeFigureOut">
              <a:rPr lang="en-IN" smtClean="0"/>
              <a:t>16-04-2025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3209926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5A65C5-18F2-4486-9A8F-71B4310F2900}" type="datetimeFigureOut">
              <a:rPr lang="en-IN" smtClean="0"/>
              <a:t>16-04-2025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312624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05A65C5-18F2-4486-9A8F-71B4310F2900}"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346416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05A65C5-18F2-4486-9A8F-71B4310F2900}" type="datetimeFigureOut">
              <a:rPr lang="en-IN" smtClean="0"/>
              <a:t>16-04-2025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05481BA-967F-45EB-9905-A772F33FC841}" type="slidenum">
              <a:rPr lang="en-IN" smtClean="0"/>
              <a:t>‹#›</a:t>
            </a:fld>
            <a:endParaRPr lang="en-IN"/>
          </a:p>
        </p:txBody>
      </p:sp>
    </p:spTree>
    <p:extLst>
      <p:ext uri="{BB962C8B-B14F-4D97-AF65-F5344CB8AC3E}">
        <p14:creationId xmlns:p14="http://schemas.microsoft.com/office/powerpoint/2010/main" val="65178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5A65C5-18F2-4486-9A8F-71B4310F2900}" type="datetimeFigureOut">
              <a:rPr lang="en-IN" smtClean="0"/>
              <a:t>16-04-2025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5481BA-967F-45EB-9905-A772F33FC841}" type="slidenum">
              <a:rPr lang="en-IN" smtClean="0"/>
              <a:t>‹#›</a:t>
            </a:fld>
            <a:endParaRPr lang="en-IN"/>
          </a:p>
        </p:txBody>
      </p:sp>
    </p:spTree>
    <p:extLst>
      <p:ext uri="{BB962C8B-B14F-4D97-AF65-F5344CB8AC3E}">
        <p14:creationId xmlns:p14="http://schemas.microsoft.com/office/powerpoint/2010/main" val="8510190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smtClean="0">
                <a:effectLst>
                  <a:outerShdw blurRad="38100" dist="38100" dir="2700000" algn="tl">
                    <a:srgbClr val="000000">
                      <a:alpha val="43137"/>
                    </a:srgbClr>
                  </a:outerShdw>
                </a:effectLst>
              </a:rPr>
              <a:t>Top billionaire data analysis</a:t>
            </a:r>
            <a:endParaRPr lang="en-IN" b="1" i="1" u="sng"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a:bodyPr>
          <a:lstStyle/>
          <a:p>
            <a:pPr lvl="4"/>
            <a:r>
              <a:rPr lang="en-US" sz="2000" dirty="0" smtClean="0"/>
              <a:t>Name : </a:t>
            </a:r>
            <a:r>
              <a:rPr lang="en-US" sz="2000" dirty="0" err="1" smtClean="0"/>
              <a:t>Sanjana</a:t>
            </a:r>
            <a:r>
              <a:rPr lang="en-US" sz="2000" dirty="0" smtClean="0"/>
              <a:t> Sorani</a:t>
            </a:r>
          </a:p>
          <a:p>
            <a:pPr lvl="4"/>
            <a:r>
              <a:rPr lang="en-US" sz="2000" dirty="0" smtClean="0"/>
              <a:t>Class: BCA(4-C)</a:t>
            </a:r>
          </a:p>
          <a:p>
            <a:pPr lvl="4"/>
            <a:r>
              <a:rPr lang="en-US" sz="2000" dirty="0" smtClean="0"/>
              <a:t>Roll NO: 92300527147</a:t>
            </a:r>
          </a:p>
          <a:p>
            <a:pPr lvl="4"/>
            <a:r>
              <a:rPr lang="en-US" sz="2000" dirty="0" err="1" smtClean="0"/>
              <a:t>Grop</a:t>
            </a:r>
            <a:r>
              <a:rPr lang="en-US" sz="2000" dirty="0" smtClean="0"/>
              <a:t> no:20</a:t>
            </a:r>
          </a:p>
          <a:p>
            <a:pPr lvl="4"/>
            <a:r>
              <a:rPr lang="en-US" sz="2000" dirty="0" smtClean="0"/>
              <a:t>R project</a:t>
            </a:r>
            <a:endParaRPr lang="en-IN" sz="2000" dirty="0"/>
          </a:p>
        </p:txBody>
      </p:sp>
    </p:spTree>
    <p:extLst>
      <p:ext uri="{BB962C8B-B14F-4D97-AF65-F5344CB8AC3E}">
        <p14:creationId xmlns:p14="http://schemas.microsoft.com/office/powerpoint/2010/main" val="26318564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485" y="219808"/>
            <a:ext cx="12810392" cy="1270916"/>
          </a:xfrm>
        </p:spPr>
        <p:txBody>
          <a:bodyPr>
            <a:normAutofit fontScale="90000"/>
          </a:bodyPr>
          <a:lstStyle/>
          <a:p>
            <a:pPr lvl="0" eaLnBrk="0" fontAlgn="base" hangingPunct="0">
              <a:lnSpc>
                <a:spcPct val="100000"/>
              </a:lnSpc>
              <a:spcAft>
                <a:spcPct val="0"/>
              </a:spcAft>
            </a:pPr>
            <a:r>
              <a:rPr kumimoji="0" lang="en-US" altLang="en-US" sz="1600" b="0" i="0" u="none" strike="noStrike" cap="none" normalizeH="0" baseline="0" dirty="0" smtClean="0">
                <a:ln>
                  <a:noFill/>
                </a:ln>
                <a:solidFill>
                  <a:schemeClr val="tx1"/>
                </a:solidFill>
                <a:effectLst/>
                <a:latin typeface="Arial" panose="020B0604020202020204" pitchFamily="34" charset="0"/>
              </a:rPr>
              <a:t>This code creates a </a:t>
            </a:r>
            <a:r>
              <a:rPr kumimoji="0" lang="en-US" altLang="en-US" sz="1600" b="1" i="0" u="none" strike="noStrike" cap="none" normalizeH="0" baseline="0" dirty="0" smtClean="0">
                <a:ln>
                  <a:noFill/>
                </a:ln>
                <a:solidFill>
                  <a:schemeClr val="tx1"/>
                </a:solidFill>
                <a:effectLst/>
                <a:latin typeface="Arial" panose="020B0604020202020204" pitchFamily="34" charset="0"/>
              </a:rPr>
              <a:t>horizontal </a:t>
            </a:r>
            <a:r>
              <a:rPr kumimoji="0" lang="en-US" altLang="en-US" sz="1600" b="1" i="0" u="none" strike="noStrike" cap="none" normalizeH="0" baseline="0" dirty="0" err="1" smtClean="0">
                <a:ln>
                  <a:noFill/>
                </a:ln>
                <a:solidFill>
                  <a:schemeClr val="tx1"/>
                </a:solidFill>
                <a:effectLst/>
                <a:latin typeface="Arial" panose="020B0604020202020204" pitchFamily="34" charset="0"/>
              </a:rPr>
              <a:t>barplot</a:t>
            </a:r>
            <a:r>
              <a:rPr kumimoji="0" lang="en-US" altLang="en-US" sz="1600" b="0" i="0" u="none" strike="noStrike" cap="none" normalizeH="0" baseline="0" dirty="0" smtClean="0">
                <a:ln>
                  <a:noFill/>
                </a:ln>
                <a:solidFill>
                  <a:schemeClr val="tx1"/>
                </a:solidFill>
                <a:effectLst/>
                <a:latin typeface="Arial" panose="020B0604020202020204" pitchFamily="34" charset="0"/>
              </a:rPr>
              <a:t> of the top ten billionaires’ net worth.</a:t>
            </a:r>
            <a:br>
              <a:rPr kumimoji="0" lang="en-US" altLang="en-US" sz="1600" b="0" i="0" u="none" strike="noStrike" cap="none" normalizeH="0" baseline="0" dirty="0" smtClean="0">
                <a:ln>
                  <a:noFill/>
                </a:ln>
                <a:solidFill>
                  <a:schemeClr val="tx1"/>
                </a:solidFill>
                <a:effectLst/>
                <a:latin typeface="Arial" panose="020B0604020202020204" pitchFamily="34" charset="0"/>
              </a:rPr>
            </a:br>
            <a:r>
              <a:rPr kumimoji="0" lang="en-US" altLang="en-US" sz="1600" b="0" i="0" u="none" strike="noStrike" cap="none" normalizeH="0" baseline="0" dirty="0" smtClean="0">
                <a:ln>
                  <a:noFill/>
                </a:ln>
                <a:solidFill>
                  <a:schemeClr val="tx1"/>
                </a:solidFill>
                <a:effectLst/>
                <a:latin typeface="Arial" panose="020B0604020202020204" pitchFamily="34" charset="0"/>
              </a:rPr>
              <a:t>It labels each bar with its corresponding value for better clarity.</a:t>
            </a:r>
            <a:br>
              <a:rPr kumimoji="0" lang="en-US" altLang="en-US" sz="1600" b="0" i="0" u="none" strike="noStrike" cap="none" normalizeH="0" baseline="0" dirty="0" smtClean="0">
                <a:ln>
                  <a:noFill/>
                </a:ln>
                <a:solidFill>
                  <a:schemeClr val="tx1"/>
                </a:solidFill>
                <a:effectLst/>
                <a:latin typeface="Arial" panose="020B0604020202020204" pitchFamily="34" charset="0"/>
              </a:rPr>
            </a:br>
            <a:r>
              <a:rPr kumimoji="0" lang="en-US" altLang="en-US" sz="1600" b="0" i="0" u="none" strike="noStrike" cap="none" normalizeH="0" baseline="0" dirty="0" smtClean="0">
                <a:ln>
                  <a:noFill/>
                </a:ln>
                <a:solidFill>
                  <a:schemeClr val="tx1"/>
                </a:solidFill>
                <a:effectLst/>
                <a:latin typeface="Arial" panose="020B0604020202020204" pitchFamily="34" charset="0"/>
              </a:rPr>
              <a:t>The bars are labeled with the names of the billionaires and the actual net worth values </a:t>
            </a:r>
            <a:br>
              <a:rPr kumimoji="0" lang="en-US" altLang="en-US" sz="1600" b="0" i="0" u="none" strike="noStrike" cap="none" normalizeH="0" baseline="0" dirty="0" smtClean="0">
                <a:ln>
                  <a:noFill/>
                </a:ln>
                <a:solidFill>
                  <a:schemeClr val="tx1"/>
                </a:solidFill>
                <a:effectLst/>
                <a:latin typeface="Arial" panose="020B0604020202020204" pitchFamily="34" charset="0"/>
              </a:rPr>
            </a:br>
            <a:r>
              <a:rPr kumimoji="0" lang="en-US" altLang="en-US" sz="1600" b="0" i="0" u="none" strike="noStrike" cap="none" normalizeH="0" baseline="0" dirty="0" smtClean="0">
                <a:ln>
                  <a:noFill/>
                </a:ln>
                <a:solidFill>
                  <a:schemeClr val="tx1"/>
                </a:solidFill>
                <a:effectLst/>
                <a:latin typeface="Arial" panose="020B0604020202020204" pitchFamily="34" charset="0"/>
              </a:rPr>
              <a:t>are shown to the right of the bars.</a:t>
            </a:r>
            <a:br>
              <a:rPr kumimoji="0" lang="en-US" altLang="en-US" sz="1600" b="0" i="0" u="none" strike="noStrike" cap="none" normalizeH="0" baseline="0" dirty="0" smtClean="0">
                <a:ln>
                  <a:noFill/>
                </a:ln>
                <a:solidFill>
                  <a:schemeClr val="tx1"/>
                </a:solidFill>
                <a:effectLst/>
                <a:latin typeface="Arial" panose="020B0604020202020204" pitchFamily="34" charset="0"/>
              </a:rPr>
            </a:br>
            <a:endParaRPr lang="en-IN" sz="1600" dirty="0"/>
          </a:p>
        </p:txBody>
      </p:sp>
      <p:sp>
        <p:nvSpPr>
          <p:cNvPr id="3" name="Content Placeholder 2"/>
          <p:cNvSpPr>
            <a:spLocks noGrp="1"/>
          </p:cNvSpPr>
          <p:nvPr>
            <p:ph idx="1"/>
          </p:nvPr>
        </p:nvSpPr>
        <p:spPr>
          <a:xfrm>
            <a:off x="0" y="1802423"/>
            <a:ext cx="11465169" cy="5460023"/>
          </a:xfrm>
        </p:spPr>
        <p:txBody>
          <a:bodyPr>
            <a:normAutofit/>
          </a:bodyPr>
          <a:lstStyle/>
          <a:p>
            <a:pPr marL="0" indent="0" algn="just">
              <a:buNone/>
            </a:pPr>
            <a:r>
              <a:rPr lang="en-IN" sz="1800" dirty="0"/>
              <a:t>#This R script creates a horizontal bar chart that visualizes the net worth of the top ten billionaires in the world. The chart is saved as a PNG file for reporting or presentation purposes</a:t>
            </a:r>
            <a:r>
              <a:rPr lang="en-IN" sz="1800" dirty="0" smtClean="0"/>
              <a:t>.</a:t>
            </a:r>
          </a:p>
          <a:p>
            <a:pPr marL="0" indent="0" algn="just">
              <a:buNone/>
            </a:pPr>
            <a:r>
              <a:rPr lang="en-IN" sz="1800" dirty="0" smtClean="0"/>
              <a:t># Data</a:t>
            </a:r>
          </a:p>
          <a:p>
            <a:pPr marL="0" indent="0" algn="just">
              <a:buNone/>
            </a:pPr>
            <a:r>
              <a:rPr lang="en-IN" sz="1800" dirty="0" smtClean="0"/>
              <a:t>A </a:t>
            </a:r>
            <a:r>
              <a:rPr lang="en-IN" sz="1800" dirty="0"/>
              <a:t>&lt;- c(211,180,114,107,106,104,94.2,93.5,83.3,80.7)B &lt;- c("Bernard </a:t>
            </a:r>
            <a:r>
              <a:rPr lang="en-IN" sz="1800" dirty="0" err="1"/>
              <a:t>Arnault</a:t>
            </a:r>
            <a:r>
              <a:rPr lang="en-IN" sz="1800" dirty="0"/>
              <a:t>","Elon </a:t>
            </a:r>
            <a:r>
              <a:rPr lang="en-IN" sz="1800" dirty="0" err="1"/>
              <a:t>Musk","Jeff</a:t>
            </a:r>
            <a:r>
              <a:rPr lang="en-IN" sz="1800" dirty="0"/>
              <a:t> </a:t>
            </a:r>
            <a:r>
              <a:rPr lang="en-IN" sz="1800" dirty="0" err="1"/>
              <a:t>Bezos","Larry</a:t>
            </a:r>
            <a:r>
              <a:rPr lang="en-IN" sz="1800" dirty="0"/>
              <a:t> </a:t>
            </a:r>
            <a:r>
              <a:rPr lang="en-IN" sz="1800" dirty="0" err="1"/>
              <a:t>Ellison","Warren</a:t>
            </a:r>
            <a:r>
              <a:rPr lang="en-IN" sz="1800" dirty="0"/>
              <a:t> Buffett</a:t>
            </a:r>
            <a:r>
              <a:rPr lang="en-IN" sz="1800" dirty="0" smtClean="0"/>
              <a:t>", </a:t>
            </a:r>
            <a:r>
              <a:rPr lang="en-IN" sz="1800" dirty="0"/>
              <a:t>"Bill Gates", "Michael Bloomberg", "Carlos Slim </a:t>
            </a:r>
            <a:r>
              <a:rPr lang="en-IN" sz="1800" dirty="0" err="1"/>
              <a:t>Helu</a:t>
            </a:r>
            <a:r>
              <a:rPr lang="en-IN" sz="1800" dirty="0"/>
              <a:t> &amp; family</a:t>
            </a:r>
            <a:r>
              <a:rPr lang="en-IN" sz="1800" dirty="0" smtClean="0"/>
              <a:t>", </a:t>
            </a:r>
            <a:r>
              <a:rPr lang="en-IN" sz="1800" dirty="0"/>
              <a:t>"</a:t>
            </a:r>
            <a:r>
              <a:rPr lang="en-IN" sz="1800" dirty="0" err="1"/>
              <a:t>Mukesh</a:t>
            </a:r>
            <a:r>
              <a:rPr lang="en-IN" sz="1800" dirty="0"/>
              <a:t> </a:t>
            </a:r>
            <a:r>
              <a:rPr lang="en-IN" sz="1800" dirty="0" err="1"/>
              <a:t>Ambani</a:t>
            </a:r>
            <a:r>
              <a:rPr lang="en-IN" sz="1800" dirty="0"/>
              <a:t>","Steve Ballmer</a:t>
            </a:r>
            <a:r>
              <a:rPr lang="en-IN" sz="1800" dirty="0" smtClean="0"/>
              <a:t>")</a:t>
            </a:r>
          </a:p>
          <a:p>
            <a:pPr marL="0" indent="0" algn="just">
              <a:buNone/>
            </a:pPr>
            <a:r>
              <a:rPr lang="en-IN" sz="1800" dirty="0" smtClean="0"/>
              <a:t># </a:t>
            </a:r>
            <a:r>
              <a:rPr lang="en-IN" sz="1800" dirty="0"/>
              <a:t>Save plot as </a:t>
            </a:r>
            <a:endParaRPr lang="en-IN" sz="1800" dirty="0" smtClean="0"/>
          </a:p>
          <a:p>
            <a:pPr marL="0" indent="0" algn="just">
              <a:buNone/>
            </a:pPr>
            <a:r>
              <a:rPr lang="en-IN" sz="1800" dirty="0" err="1" smtClean="0"/>
              <a:t>PNGpng</a:t>
            </a:r>
            <a:r>
              <a:rPr lang="en-IN" sz="1800" dirty="0"/>
              <a:t>("top_billionaires.png", width = 900, height = 600</a:t>
            </a:r>
            <a:r>
              <a:rPr lang="en-IN" sz="1800" dirty="0" smtClean="0"/>
              <a:t>)</a:t>
            </a:r>
          </a:p>
          <a:p>
            <a:pPr marL="0" indent="0" algn="just">
              <a:buNone/>
            </a:pPr>
            <a:r>
              <a:rPr lang="en-IN" sz="1800" dirty="0" smtClean="0"/>
              <a:t># </a:t>
            </a:r>
            <a:r>
              <a:rPr lang="en-IN" sz="1800" dirty="0"/>
              <a:t>Create </a:t>
            </a:r>
            <a:r>
              <a:rPr lang="en-IN" sz="1800" dirty="0" err="1"/>
              <a:t>barplot</a:t>
            </a:r>
            <a:r>
              <a:rPr lang="en-IN" sz="1800" dirty="0"/>
              <a:t> and store bar </a:t>
            </a:r>
            <a:r>
              <a:rPr lang="en-IN" sz="1800" dirty="0" err="1"/>
              <a:t>midpointsbp</a:t>
            </a:r>
            <a:r>
              <a:rPr lang="en-IN" sz="1800" dirty="0"/>
              <a:t> </a:t>
            </a:r>
            <a:endParaRPr lang="en-IN" sz="1800" dirty="0" smtClean="0"/>
          </a:p>
          <a:p>
            <a:pPr marL="0" indent="0" algn="just">
              <a:buNone/>
            </a:pPr>
            <a:r>
              <a:rPr lang="en-IN" sz="1800" dirty="0" smtClean="0"/>
              <a:t>&lt;- </a:t>
            </a:r>
            <a:r>
              <a:rPr lang="en-IN" sz="1800" dirty="0" err="1"/>
              <a:t>barplot</a:t>
            </a:r>
            <a:r>
              <a:rPr lang="en-IN" sz="1800" dirty="0"/>
              <a:t>(A, </a:t>
            </a:r>
            <a:r>
              <a:rPr lang="en-IN" sz="1800" dirty="0" err="1"/>
              <a:t>names.arg</a:t>
            </a:r>
            <a:r>
              <a:rPr lang="en-IN" sz="1800" dirty="0"/>
              <a:t> = B, </a:t>
            </a:r>
            <a:r>
              <a:rPr lang="en-IN" sz="1800" dirty="0" err="1"/>
              <a:t>horiz</a:t>
            </a:r>
            <a:r>
              <a:rPr lang="en-IN" sz="1800" dirty="0"/>
              <a:t> = TRUE, </a:t>
            </a:r>
            <a:r>
              <a:rPr lang="en-IN" sz="1800" dirty="0" err="1"/>
              <a:t>xlab</a:t>
            </a:r>
            <a:r>
              <a:rPr lang="en-IN" sz="1800" dirty="0"/>
              <a:t> = "Net Worth (in billions)",              col = "blue", main = "Top Ten Billionaires", las = 1, </a:t>
            </a:r>
            <a:r>
              <a:rPr lang="en-IN" sz="1800" dirty="0" err="1"/>
              <a:t>cex.names</a:t>
            </a:r>
            <a:r>
              <a:rPr lang="en-IN" sz="1800" dirty="0"/>
              <a:t> = 0.7</a:t>
            </a:r>
            <a:r>
              <a:rPr lang="en-IN" sz="1800" dirty="0" smtClean="0"/>
              <a:t>)</a:t>
            </a:r>
          </a:p>
          <a:p>
            <a:pPr marL="0" indent="0" algn="just">
              <a:buNone/>
            </a:pPr>
            <a:r>
              <a:rPr lang="en-IN" sz="1800" dirty="0" smtClean="0"/>
              <a:t># </a:t>
            </a:r>
            <a:r>
              <a:rPr lang="en-IN" sz="1800" dirty="0"/>
              <a:t>Add net worth values at end of </a:t>
            </a:r>
            <a:r>
              <a:rPr lang="en-IN" sz="1800" dirty="0" err="1"/>
              <a:t>barstext</a:t>
            </a:r>
            <a:r>
              <a:rPr lang="en-IN" sz="1800" dirty="0"/>
              <a:t>(x = A + 5, y = </a:t>
            </a:r>
            <a:r>
              <a:rPr lang="en-IN" sz="1800" dirty="0" err="1"/>
              <a:t>bp</a:t>
            </a:r>
            <a:r>
              <a:rPr lang="en-IN" sz="1800" dirty="0"/>
              <a:t>, labels = A, </a:t>
            </a:r>
            <a:r>
              <a:rPr lang="en-IN" sz="1800" dirty="0" err="1"/>
              <a:t>cex</a:t>
            </a:r>
            <a:r>
              <a:rPr lang="en-IN" sz="1800" dirty="0"/>
              <a:t> = 0.8, col = "black")# Finish </a:t>
            </a:r>
            <a:r>
              <a:rPr lang="en-IN" sz="1800" dirty="0" err="1"/>
              <a:t>savingdev.off</a:t>
            </a:r>
            <a:r>
              <a:rPr lang="en-IN" sz="1800" dirty="0"/>
              <a:t>()</a:t>
            </a:r>
            <a:endParaRPr lang="en-IN" sz="1800" dirty="0"/>
          </a:p>
        </p:txBody>
      </p:sp>
    </p:spTree>
    <p:extLst>
      <p:ext uri="{BB962C8B-B14F-4D97-AF65-F5344CB8AC3E}">
        <p14:creationId xmlns:p14="http://schemas.microsoft.com/office/powerpoint/2010/main" val="40405741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6815" y="351692"/>
            <a:ext cx="10691447" cy="6216162"/>
          </a:xfrm>
          <a:prstGeom prst="rect">
            <a:avLst/>
          </a:prstGeom>
        </p:spPr>
      </p:pic>
    </p:spTree>
    <p:extLst>
      <p:ext uri="{BB962C8B-B14F-4D97-AF65-F5344CB8AC3E}">
        <p14:creationId xmlns:p14="http://schemas.microsoft.com/office/powerpoint/2010/main" val="269726392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600" dirty="0" smtClean="0"/>
              <a:t>This code creates a </a:t>
            </a:r>
            <a:r>
              <a:rPr lang="en-US" sz="1600" b="1" dirty="0" smtClean="0"/>
              <a:t>visually enhanced pie chart</a:t>
            </a:r>
            <a:r>
              <a:rPr lang="en-US" sz="1600" dirty="0" smtClean="0"/>
              <a:t> showing the top three countries by value (e.g., net worth).</a:t>
            </a:r>
            <a:br>
              <a:rPr lang="en-US" sz="1600" dirty="0" smtClean="0"/>
            </a:br>
            <a:r>
              <a:rPr lang="en-US" sz="1600" dirty="0" smtClean="0"/>
              <a:t> Each slice displays both the country name and its percentage contribution to the total.</a:t>
            </a:r>
            <a:br>
              <a:rPr lang="en-US" sz="1600" dirty="0" smtClean="0"/>
            </a:br>
            <a:r>
              <a:rPr lang="en-US" sz="1600" dirty="0" smtClean="0"/>
              <a:t>Let me know if you want to customize colors or add a legend!</a:t>
            </a:r>
            <a:endParaRPr lang="en-US" sz="1600" dirty="0"/>
          </a:p>
        </p:txBody>
      </p:sp>
      <p:sp>
        <p:nvSpPr>
          <p:cNvPr id="3" name="Content Placeholder 2"/>
          <p:cNvSpPr>
            <a:spLocks noGrp="1"/>
          </p:cNvSpPr>
          <p:nvPr>
            <p:ph idx="1"/>
          </p:nvPr>
        </p:nvSpPr>
        <p:spPr>
          <a:xfrm>
            <a:off x="838199" y="1825625"/>
            <a:ext cx="10723686" cy="4871010"/>
          </a:xfrm>
        </p:spPr>
        <p:txBody>
          <a:bodyPr>
            <a:normAutofit/>
          </a:bodyPr>
          <a:lstStyle/>
          <a:p>
            <a:pPr marL="0" indent="0">
              <a:buNone/>
            </a:pPr>
            <a:r>
              <a:rPr lang="en-IN" sz="1900" dirty="0" err="1" smtClean="0"/>
              <a:t>install.packages</a:t>
            </a:r>
            <a:r>
              <a:rPr lang="en-IN" sz="1900" dirty="0" smtClean="0"/>
              <a:t>("</a:t>
            </a:r>
            <a:r>
              <a:rPr lang="en-IN" sz="1900" dirty="0" err="1" smtClean="0"/>
              <a:t>plotrix</a:t>
            </a:r>
            <a:r>
              <a:rPr lang="en-IN" sz="1900" dirty="0" smtClean="0"/>
              <a:t>")  # Run this only once</a:t>
            </a:r>
          </a:p>
          <a:p>
            <a:pPr marL="0" indent="0">
              <a:buNone/>
            </a:pPr>
            <a:endParaRPr lang="en-IN" sz="1900" dirty="0" smtClean="0"/>
          </a:p>
          <a:p>
            <a:pPr marL="0" indent="0">
              <a:buNone/>
            </a:pPr>
            <a:r>
              <a:rPr lang="en-IN" sz="1900" dirty="0" smtClean="0"/>
              <a:t># Data</a:t>
            </a:r>
          </a:p>
          <a:p>
            <a:pPr marL="0" indent="0">
              <a:buNone/>
            </a:pPr>
            <a:r>
              <a:rPr lang="en-IN" sz="1900" dirty="0" smtClean="0"/>
              <a:t>A &lt;- c(211, 180, 114)</a:t>
            </a:r>
          </a:p>
          <a:p>
            <a:pPr marL="0" indent="0">
              <a:buNone/>
            </a:pPr>
            <a:r>
              <a:rPr lang="en-IN" sz="1900" dirty="0" smtClean="0"/>
              <a:t>labels &lt;- c("France", "US", "Mexico")</a:t>
            </a:r>
          </a:p>
          <a:p>
            <a:endParaRPr lang="en-IN" sz="1900" dirty="0" smtClean="0"/>
          </a:p>
          <a:p>
            <a:pPr marL="0" indent="0">
              <a:buNone/>
            </a:pPr>
            <a:r>
              <a:rPr lang="en-IN" sz="1900" dirty="0" err="1" smtClean="0"/>
              <a:t>pct</a:t>
            </a:r>
            <a:r>
              <a:rPr lang="en-IN" sz="1900" dirty="0" smtClean="0"/>
              <a:t> &lt;- round(A / sum(A) * 100)</a:t>
            </a:r>
          </a:p>
          <a:p>
            <a:pPr marL="0" indent="0">
              <a:buNone/>
            </a:pPr>
            <a:r>
              <a:rPr lang="en-IN" sz="1900" dirty="0" err="1" smtClean="0"/>
              <a:t>labels_with_pct</a:t>
            </a:r>
            <a:r>
              <a:rPr lang="en-IN" sz="1900" dirty="0" smtClean="0"/>
              <a:t> &lt;- paste(labels, </a:t>
            </a:r>
            <a:r>
              <a:rPr lang="en-IN" sz="1900" dirty="0" err="1" smtClean="0"/>
              <a:t>pct</a:t>
            </a:r>
            <a:r>
              <a:rPr lang="en-IN" sz="1900" dirty="0" smtClean="0"/>
              <a:t>, "%")</a:t>
            </a:r>
          </a:p>
          <a:p>
            <a:endParaRPr lang="en-IN" sz="1900" dirty="0" smtClean="0"/>
          </a:p>
          <a:p>
            <a:pPr marL="0" indent="0">
              <a:buNone/>
            </a:pPr>
            <a:r>
              <a:rPr lang="en-IN" sz="1900" dirty="0" smtClean="0"/>
              <a:t># 3D Pie Chart</a:t>
            </a:r>
          </a:p>
          <a:p>
            <a:pPr marL="0" indent="0">
              <a:buNone/>
            </a:pPr>
            <a:r>
              <a:rPr lang="en-IN" sz="1900" dirty="0" smtClean="0"/>
              <a:t>pie3D(A, labels = </a:t>
            </a:r>
            <a:r>
              <a:rPr lang="en-IN" sz="1900" dirty="0" err="1" smtClean="0"/>
              <a:t>labels_with_pct</a:t>
            </a:r>
            <a:r>
              <a:rPr lang="en-IN" sz="1900" dirty="0" smtClean="0"/>
              <a:t>, explode = 0.1, main = "Top Three </a:t>
            </a:r>
            <a:r>
              <a:rPr lang="en-IN" dirty="0" smtClean="0"/>
              <a:t>Countries")</a:t>
            </a:r>
            <a:endParaRPr lang="en-IN" dirty="0"/>
          </a:p>
        </p:txBody>
      </p:sp>
    </p:spTree>
    <p:extLst>
      <p:ext uri="{BB962C8B-B14F-4D97-AF65-F5344CB8AC3E}">
        <p14:creationId xmlns:p14="http://schemas.microsoft.com/office/powerpoint/2010/main" val="379380786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868" y="817685"/>
            <a:ext cx="8379069" cy="6154615"/>
          </a:xfrm>
          <a:prstGeom prst="rect">
            <a:avLst/>
          </a:prstGeom>
        </p:spPr>
      </p:pic>
    </p:spTree>
    <p:extLst>
      <p:ext uri="{BB962C8B-B14F-4D97-AF65-F5344CB8AC3E}">
        <p14:creationId xmlns:p14="http://schemas.microsoft.com/office/powerpoint/2010/main" val="328994036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1600" dirty="0" smtClean="0"/>
              <a:t>Here's a detailed explanation </a:t>
            </a:r>
            <a:r>
              <a:rPr lang="en-US" sz="1600" dirty="0" err="1" smtClean="0"/>
              <a:t>hich</a:t>
            </a:r>
            <a:r>
              <a:rPr lang="en-US" sz="1600" dirty="0" smtClean="0"/>
              <a:t> creates a </a:t>
            </a:r>
            <a:r>
              <a:rPr lang="en-US" sz="1600" b="1" dirty="0" smtClean="0"/>
              <a:t>vertical </a:t>
            </a:r>
            <a:r>
              <a:rPr lang="en-US" sz="1600" b="1" dirty="0" err="1" smtClean="0"/>
              <a:t>barplot</a:t>
            </a:r>
            <a:r>
              <a:rPr lang="en-US" sz="1600" dirty="0" smtClean="0"/>
              <a:t> of top industry net </a:t>
            </a:r>
            <a:r>
              <a:rPr lang="en-US" sz="1600" dirty="0" err="1" smtClean="0"/>
              <a:t>worths</a:t>
            </a:r>
            <a:r>
              <a:rPr lang="en-US" sz="1600" dirty="0" smtClean="0"/>
              <a:t>, along with data labels on each bar.</a:t>
            </a:r>
            <a:br>
              <a:rPr lang="en-US" sz="1600" dirty="0" smtClean="0"/>
            </a:br>
            <a:r>
              <a:rPr lang="en-US" sz="1600" dirty="0" smtClean="0"/>
              <a:t>This script creates a clear vertical </a:t>
            </a:r>
            <a:r>
              <a:rPr lang="en-US" sz="1600" dirty="0" err="1" smtClean="0"/>
              <a:t>barplot</a:t>
            </a:r>
            <a:r>
              <a:rPr lang="en-US" sz="1600" dirty="0" smtClean="0"/>
              <a:t> of net </a:t>
            </a:r>
            <a:r>
              <a:rPr lang="en-US" sz="1600" dirty="0" err="1" smtClean="0"/>
              <a:t>worths</a:t>
            </a:r>
            <a:r>
              <a:rPr lang="en-US" sz="1600" dirty="0" smtClean="0"/>
              <a:t> by industry/company. It includes:</a:t>
            </a:r>
            <a:br>
              <a:rPr lang="en-US" sz="1600" dirty="0" smtClean="0"/>
            </a:br>
            <a:r>
              <a:rPr lang="en-US" sz="1600" dirty="0" smtClean="0"/>
              <a:t>Yellow bars</a:t>
            </a:r>
            <a:br>
              <a:rPr lang="en-US" sz="1600" dirty="0" smtClean="0"/>
            </a:br>
            <a:r>
              <a:rPr lang="en-US" sz="1600" dirty="0" smtClean="0"/>
              <a:t>Vertical x-axis labels</a:t>
            </a:r>
            <a:br>
              <a:rPr lang="en-US" sz="1600" dirty="0" smtClean="0"/>
            </a:br>
            <a:r>
              <a:rPr lang="en-US" sz="1600" dirty="0" smtClean="0"/>
              <a:t>Blue value labels placed on top of each bar</a:t>
            </a:r>
            <a:br>
              <a:rPr lang="en-US" sz="1600" dirty="0" smtClean="0"/>
            </a:br>
            <a:endParaRPr lang="en-IN" sz="1600" dirty="0"/>
          </a:p>
        </p:txBody>
      </p:sp>
      <p:sp>
        <p:nvSpPr>
          <p:cNvPr id="3" name="Content Placeholder 2"/>
          <p:cNvSpPr>
            <a:spLocks noGrp="1"/>
          </p:cNvSpPr>
          <p:nvPr>
            <p:ph idx="1"/>
          </p:nvPr>
        </p:nvSpPr>
        <p:spPr>
          <a:xfrm>
            <a:off x="838200" y="1825625"/>
            <a:ext cx="10776438" cy="4351338"/>
          </a:xfrm>
        </p:spPr>
        <p:txBody>
          <a:bodyPr>
            <a:normAutofit/>
          </a:bodyPr>
          <a:lstStyle/>
          <a:p>
            <a:pPr lvl="2"/>
            <a:r>
              <a:rPr lang="en-IN" sz="1800" dirty="0" smtClean="0"/>
              <a:t># Data</a:t>
            </a:r>
          </a:p>
          <a:p>
            <a:pPr marL="0" indent="0">
              <a:buNone/>
            </a:pPr>
            <a:r>
              <a:rPr lang="en-IN" sz="1800" dirty="0" smtClean="0"/>
              <a:t>A &lt;- c(211, 180, 114, 107, 106, 104, 94, 93, 83, 80)  # Net worth</a:t>
            </a:r>
          </a:p>
          <a:p>
            <a:pPr marL="0" indent="0">
              <a:buNone/>
            </a:pPr>
            <a:r>
              <a:rPr lang="en-IN" sz="1800" dirty="0" smtClean="0"/>
              <a:t>B &lt;- c("LVMH", "Tesla", "</a:t>
            </a:r>
            <a:r>
              <a:rPr lang="en-IN" sz="1800" dirty="0" err="1" smtClean="0"/>
              <a:t>SpaceX</a:t>
            </a:r>
            <a:r>
              <a:rPr lang="en-IN" sz="1800" dirty="0" smtClean="0"/>
              <a:t>", "Amazon", "</a:t>
            </a:r>
            <a:r>
              <a:rPr lang="en-IN" sz="1800" dirty="0" err="1" smtClean="0"/>
              <a:t>Oracle","Berkshire</a:t>
            </a:r>
            <a:r>
              <a:rPr lang="en-IN" sz="1800" dirty="0" smtClean="0"/>
              <a:t> Hathaway", "Microsoft", "Bloomberg LP",</a:t>
            </a:r>
          </a:p>
          <a:p>
            <a:pPr marL="0" indent="0">
              <a:buNone/>
            </a:pPr>
            <a:r>
              <a:rPr lang="en-IN" sz="1800" dirty="0" smtClean="0"/>
              <a:t>"Telecom", "Diversified")</a:t>
            </a:r>
          </a:p>
          <a:p>
            <a:pPr marL="0" indent="0">
              <a:buNone/>
            </a:pPr>
            <a:r>
              <a:rPr lang="en-IN" sz="1800" dirty="0" err="1" smtClean="0"/>
              <a:t>bp</a:t>
            </a:r>
            <a:r>
              <a:rPr lang="en-IN" sz="1800" dirty="0" smtClean="0"/>
              <a:t> &lt;- </a:t>
            </a:r>
            <a:r>
              <a:rPr lang="en-IN" sz="1800" dirty="0" err="1" smtClean="0"/>
              <a:t>barplot</a:t>
            </a:r>
            <a:r>
              <a:rPr lang="en-IN" sz="1800" dirty="0" smtClean="0"/>
              <a:t>(</a:t>
            </a:r>
            <a:r>
              <a:rPr lang="en-IN" sz="1800" dirty="0" err="1" smtClean="0"/>
              <a:t>A,names.arg</a:t>
            </a:r>
            <a:r>
              <a:rPr lang="en-IN" sz="1800" dirty="0" smtClean="0"/>
              <a:t> = </a:t>
            </a:r>
            <a:r>
              <a:rPr lang="en-IN" sz="1800" dirty="0" err="1" smtClean="0"/>
              <a:t>B,xlab</a:t>
            </a:r>
            <a:r>
              <a:rPr lang="en-IN" sz="1800" dirty="0" smtClean="0"/>
              <a:t> = "Source names",</a:t>
            </a:r>
            <a:r>
              <a:rPr lang="en-IN" sz="1800" dirty="0" err="1" smtClean="0"/>
              <a:t>ylab</a:t>
            </a:r>
            <a:r>
              <a:rPr lang="en-IN" sz="1800" dirty="0" smtClean="0"/>
              <a:t> = "Net worth (in billions)",col = "</a:t>
            </a:r>
            <a:r>
              <a:rPr lang="en-IN" sz="1800" dirty="0" err="1" smtClean="0"/>
              <a:t>yellow",main</a:t>
            </a:r>
            <a:r>
              <a:rPr lang="en-IN" sz="1800" dirty="0" smtClean="0"/>
              <a:t> = "Top Industry Net </a:t>
            </a:r>
            <a:r>
              <a:rPr lang="en-IN" sz="1800" dirty="0" err="1" smtClean="0"/>
              <a:t>Worth",las</a:t>
            </a:r>
            <a:r>
              <a:rPr lang="en-IN" sz="1800" dirty="0" smtClean="0"/>
              <a:t> = 2)</a:t>
            </a:r>
          </a:p>
          <a:p>
            <a:endParaRPr lang="en-IN" sz="1800" dirty="0" smtClean="0"/>
          </a:p>
          <a:p>
            <a:pPr marL="0" indent="0">
              <a:buNone/>
            </a:pPr>
            <a:r>
              <a:rPr lang="en-IN" sz="1800" dirty="0" smtClean="0"/>
              <a:t># Add data labels on top of each bar</a:t>
            </a:r>
          </a:p>
          <a:p>
            <a:pPr marL="0" indent="0">
              <a:buNone/>
            </a:pPr>
            <a:r>
              <a:rPr lang="en-IN" sz="1800" dirty="0" smtClean="0"/>
              <a:t>text(x = </a:t>
            </a:r>
            <a:r>
              <a:rPr lang="en-IN" sz="1800" dirty="0" err="1" smtClean="0"/>
              <a:t>bp</a:t>
            </a:r>
            <a:r>
              <a:rPr lang="en-IN" sz="1800" dirty="0" smtClean="0"/>
              <a:t>, y = A, label = A, </a:t>
            </a:r>
            <a:r>
              <a:rPr lang="en-IN" sz="1800" dirty="0" err="1" smtClean="0"/>
              <a:t>pos</a:t>
            </a:r>
            <a:r>
              <a:rPr lang="en-IN" sz="1800" dirty="0" smtClean="0"/>
              <a:t> = 3, </a:t>
            </a:r>
            <a:r>
              <a:rPr lang="en-IN" sz="1800" dirty="0" err="1" smtClean="0"/>
              <a:t>cex</a:t>
            </a:r>
            <a:r>
              <a:rPr lang="en-IN" sz="1800" dirty="0" smtClean="0"/>
              <a:t> = 0.8, col = "blue")</a:t>
            </a:r>
            <a:endParaRPr lang="en-IN" sz="1800" dirty="0"/>
          </a:p>
        </p:txBody>
      </p:sp>
    </p:spTree>
    <p:extLst>
      <p:ext uri="{BB962C8B-B14F-4D97-AF65-F5344CB8AC3E}">
        <p14:creationId xmlns:p14="http://schemas.microsoft.com/office/powerpoint/2010/main" val="396210628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33500" y="571500"/>
            <a:ext cx="9525000" cy="5715000"/>
          </a:xfrm>
          <a:prstGeom prst="rect">
            <a:avLst/>
          </a:prstGeom>
        </p:spPr>
      </p:pic>
    </p:spTree>
    <p:extLst>
      <p:ext uri="{BB962C8B-B14F-4D97-AF65-F5344CB8AC3E}">
        <p14:creationId xmlns:p14="http://schemas.microsoft.com/office/powerpoint/2010/main" val="896266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600" dirty="0" smtClean="0"/>
              <a:t>display the </a:t>
            </a:r>
            <a:r>
              <a:rPr lang="en-US" sz="1600" b="1" dirty="0" smtClean="0"/>
              <a:t>country names</a:t>
            </a:r>
            <a:r>
              <a:rPr lang="en-US" sz="1600" dirty="0" smtClean="0"/>
              <a:t> as X-axis labels.</a:t>
            </a:r>
            <a:br>
              <a:rPr lang="en-US" sz="1600" dirty="0" smtClean="0"/>
            </a:br>
            <a:r>
              <a:rPr lang="en-US" sz="1600" dirty="0" smtClean="0"/>
              <a:t>Your original code creates a red </a:t>
            </a:r>
            <a:r>
              <a:rPr lang="en-US" sz="1600" dirty="0" err="1" smtClean="0"/>
              <a:t>line+point</a:t>
            </a:r>
            <a:r>
              <a:rPr lang="en-US" sz="1600" dirty="0" smtClean="0"/>
              <a:t> chart of net worth values, but doesn’t label the countries. By modifying the x-axis, you can make the chart more informative by showing the actual country names.</a:t>
            </a:r>
            <a:endParaRPr lang="en-US" sz="1600" dirty="0"/>
          </a:p>
        </p:txBody>
      </p:sp>
      <p:sp>
        <p:nvSpPr>
          <p:cNvPr id="3" name="Content Placeholder 2"/>
          <p:cNvSpPr>
            <a:spLocks noGrp="1"/>
          </p:cNvSpPr>
          <p:nvPr>
            <p:ph idx="1"/>
          </p:nvPr>
        </p:nvSpPr>
        <p:spPr>
          <a:xfrm>
            <a:off x="838199" y="1825625"/>
            <a:ext cx="10688515" cy="4351338"/>
          </a:xfrm>
        </p:spPr>
        <p:txBody>
          <a:bodyPr/>
          <a:lstStyle/>
          <a:p>
            <a:pPr marL="0" indent="0">
              <a:buNone/>
            </a:pPr>
            <a:r>
              <a:rPr lang="en-US" dirty="0" smtClean="0"/>
              <a:t>#data</a:t>
            </a:r>
          </a:p>
          <a:p>
            <a:pPr marL="0" indent="0">
              <a:buNone/>
            </a:pPr>
            <a:r>
              <a:rPr lang="en-US" dirty="0" smtClean="0"/>
              <a:t>V &lt;- c(211,180,114,107,106)</a:t>
            </a:r>
          </a:p>
          <a:p>
            <a:pPr marL="0" indent="0">
              <a:buNone/>
            </a:pPr>
            <a:r>
              <a:rPr lang="en-US" dirty="0" smtClean="0"/>
              <a:t>Y &lt;- c("</a:t>
            </a:r>
            <a:r>
              <a:rPr lang="en-US" dirty="0" err="1" smtClean="0"/>
              <a:t>france</a:t>
            </a:r>
            <a:r>
              <a:rPr lang="en-US" dirty="0" smtClean="0"/>
              <a:t>","us","</a:t>
            </a:r>
            <a:r>
              <a:rPr lang="en-US" dirty="0" err="1" smtClean="0"/>
              <a:t>maxico</a:t>
            </a:r>
            <a:r>
              <a:rPr lang="en-US" dirty="0" smtClean="0"/>
              <a:t>","</a:t>
            </a:r>
            <a:r>
              <a:rPr lang="en-US" dirty="0" err="1" smtClean="0"/>
              <a:t>india</a:t>
            </a:r>
            <a:r>
              <a:rPr lang="en-US" dirty="0" smtClean="0"/>
              <a:t>","</a:t>
            </a:r>
            <a:r>
              <a:rPr lang="en-US" dirty="0" err="1" smtClean="0"/>
              <a:t>spain</a:t>
            </a:r>
            <a:r>
              <a:rPr lang="en-US" dirty="0" smtClean="0"/>
              <a:t>")</a:t>
            </a:r>
          </a:p>
          <a:p>
            <a:pPr marL="0" indent="0">
              <a:buNone/>
            </a:pPr>
            <a:r>
              <a:rPr lang="en-US" dirty="0" smtClean="0"/>
              <a:t>plot(</a:t>
            </a:r>
            <a:r>
              <a:rPr lang="en-US" dirty="0" err="1" smtClean="0"/>
              <a:t>V,type</a:t>
            </a:r>
            <a:r>
              <a:rPr lang="en-US" dirty="0" smtClean="0"/>
              <a:t>="</a:t>
            </a:r>
            <a:r>
              <a:rPr lang="en-US" dirty="0" err="1" smtClean="0"/>
              <a:t>o",col</a:t>
            </a:r>
            <a:r>
              <a:rPr lang="en-US" dirty="0" smtClean="0"/>
              <a:t> ="red",</a:t>
            </a:r>
            <a:r>
              <a:rPr lang="en-US" dirty="0" err="1" smtClean="0"/>
              <a:t>xlab</a:t>
            </a:r>
            <a:r>
              <a:rPr lang="en-US" dirty="0" smtClean="0"/>
              <a:t> ="</a:t>
            </a:r>
            <a:r>
              <a:rPr lang="en-US" dirty="0" err="1" smtClean="0"/>
              <a:t>countryn</a:t>
            </a:r>
            <a:r>
              <a:rPr lang="en-US" dirty="0" smtClean="0"/>
              <a:t>",</a:t>
            </a:r>
            <a:r>
              <a:rPr lang="en-US" dirty="0" err="1" smtClean="0"/>
              <a:t>ylab</a:t>
            </a:r>
            <a:r>
              <a:rPr lang="en-US" dirty="0" smtClean="0"/>
              <a:t> ="net of </a:t>
            </a:r>
            <a:r>
              <a:rPr lang="en-US" dirty="0" err="1" smtClean="0"/>
              <a:t>worth",main</a:t>
            </a:r>
            <a:r>
              <a:rPr lang="en-US" dirty="0" smtClean="0"/>
              <a:t> ="top country chart")</a:t>
            </a:r>
            <a:endParaRPr lang="en-IN" dirty="0"/>
          </a:p>
        </p:txBody>
      </p:sp>
    </p:spTree>
    <p:extLst>
      <p:ext uri="{BB962C8B-B14F-4D97-AF65-F5344CB8AC3E}">
        <p14:creationId xmlns:p14="http://schemas.microsoft.com/office/powerpoint/2010/main" val="41083325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0" y="246185"/>
            <a:ext cx="10049608" cy="6418384"/>
          </a:xfrm>
          <a:prstGeom prst="rect">
            <a:avLst/>
          </a:prstGeom>
        </p:spPr>
      </p:pic>
    </p:spTree>
    <p:extLst>
      <p:ext uri="{BB962C8B-B14F-4D97-AF65-F5344CB8AC3E}">
        <p14:creationId xmlns:p14="http://schemas.microsoft.com/office/powerpoint/2010/main" val="37705898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600" dirty="0" smtClean="0"/>
              <a:t>This code creates a </a:t>
            </a:r>
            <a:r>
              <a:rPr lang="en-US" sz="1600" b="1" dirty="0" smtClean="0"/>
              <a:t>clean </a:t>
            </a:r>
            <a:r>
              <a:rPr lang="en-US" sz="1600" b="1" dirty="0" err="1" smtClean="0"/>
              <a:t>barplot</a:t>
            </a:r>
            <a:r>
              <a:rPr lang="en-US" sz="1600" dirty="0" smtClean="0"/>
              <a:t> showing the net </a:t>
            </a:r>
            <a:r>
              <a:rPr lang="en-US" sz="1600" dirty="0" err="1" smtClean="0"/>
              <a:t>worths</a:t>
            </a:r>
            <a:r>
              <a:rPr lang="en-US" sz="1600" dirty="0" smtClean="0"/>
              <a:t> of the top five billionaires, with:</a:t>
            </a:r>
            <a:br>
              <a:rPr lang="en-US" sz="1600" dirty="0" smtClean="0"/>
            </a:br>
            <a:r>
              <a:rPr lang="en-US" sz="1600" dirty="0" smtClean="0"/>
              <a:t>Blue bars</a:t>
            </a:r>
            <a:br>
              <a:rPr lang="en-US" sz="1600" dirty="0" smtClean="0"/>
            </a:br>
            <a:r>
              <a:rPr lang="en-US" sz="1600" dirty="0" smtClean="0"/>
              <a:t>Labeled names on the x-axis</a:t>
            </a:r>
            <a:br>
              <a:rPr lang="en-US" sz="1600" dirty="0" smtClean="0"/>
            </a:br>
            <a:r>
              <a:rPr lang="en-US" sz="1600" dirty="0" smtClean="0"/>
              <a:t>Net worth numbers displayed above each bar</a:t>
            </a:r>
            <a:endParaRPr lang="en-US" sz="1600" dirty="0"/>
          </a:p>
        </p:txBody>
      </p:sp>
      <p:sp>
        <p:nvSpPr>
          <p:cNvPr id="3" name="Content Placeholder 2"/>
          <p:cNvSpPr>
            <a:spLocks noGrp="1"/>
          </p:cNvSpPr>
          <p:nvPr>
            <p:ph idx="1"/>
          </p:nvPr>
        </p:nvSpPr>
        <p:spPr>
          <a:xfrm>
            <a:off x="-1951892" y="1758462"/>
            <a:ext cx="13698415" cy="4418501"/>
          </a:xfrm>
        </p:spPr>
        <p:txBody>
          <a:bodyPr>
            <a:normAutofit/>
          </a:bodyPr>
          <a:lstStyle/>
          <a:p>
            <a:pPr marL="2286000" lvl="5" indent="0">
              <a:buNone/>
            </a:pPr>
            <a:r>
              <a:rPr lang="en-IN" sz="1600" dirty="0"/>
              <a:t># Data </a:t>
            </a:r>
          </a:p>
          <a:p>
            <a:pPr marL="2286000" lvl="5" indent="0">
              <a:buNone/>
            </a:pPr>
            <a:r>
              <a:rPr lang="en-IN" sz="1600" dirty="0"/>
              <a:t>&lt;- c(211,180,114,107,106,104,94.2,93.5,83.3,80.7)B</a:t>
            </a:r>
          </a:p>
          <a:p>
            <a:pPr marL="2286000" lvl="5" indent="0">
              <a:buNone/>
            </a:pPr>
            <a:r>
              <a:rPr lang="en-IN" sz="1600" dirty="0"/>
              <a:t> &lt;- c("Bernard </a:t>
            </a:r>
            <a:r>
              <a:rPr lang="en-IN" sz="1600" dirty="0" err="1"/>
              <a:t>Arnault</a:t>
            </a:r>
            <a:r>
              <a:rPr lang="en-IN" sz="1600" dirty="0"/>
              <a:t>","Elon </a:t>
            </a:r>
            <a:r>
              <a:rPr lang="en-IN" sz="1600" dirty="0" err="1"/>
              <a:t>Musk","Jeff</a:t>
            </a:r>
            <a:r>
              <a:rPr lang="en-IN" sz="1600" dirty="0"/>
              <a:t> </a:t>
            </a:r>
            <a:r>
              <a:rPr lang="en-IN" sz="1600" dirty="0" err="1"/>
              <a:t>Bezos","Larry</a:t>
            </a:r>
            <a:r>
              <a:rPr lang="en-IN" sz="1600" dirty="0"/>
              <a:t> </a:t>
            </a:r>
            <a:r>
              <a:rPr lang="en-IN" sz="1600" dirty="0" err="1"/>
              <a:t>Ellison","Warren</a:t>
            </a:r>
            <a:r>
              <a:rPr lang="en-IN" sz="1600" dirty="0"/>
              <a:t> Buffett",  "Bill Gates", "Michael Bloomberg", "Carlos Slim </a:t>
            </a:r>
            <a:r>
              <a:rPr lang="en-IN" sz="1600" dirty="0" err="1"/>
              <a:t>Helu</a:t>
            </a:r>
            <a:r>
              <a:rPr lang="en-IN" sz="1600" dirty="0"/>
              <a:t> &amp; family", "</a:t>
            </a:r>
            <a:r>
              <a:rPr lang="en-IN" sz="1600" dirty="0" err="1"/>
              <a:t>Mukesh</a:t>
            </a:r>
            <a:r>
              <a:rPr lang="en-IN" sz="1600" dirty="0"/>
              <a:t> </a:t>
            </a:r>
            <a:r>
              <a:rPr lang="en-IN" sz="1600" dirty="0" err="1"/>
              <a:t>Ambani</a:t>
            </a:r>
            <a:r>
              <a:rPr lang="en-IN" sz="1600" dirty="0"/>
              <a:t>","Steve Ballmer")</a:t>
            </a:r>
          </a:p>
          <a:p>
            <a:pPr marL="2286000" lvl="5" indent="0">
              <a:buNone/>
            </a:pPr>
            <a:r>
              <a:rPr lang="en-IN" sz="1600" dirty="0"/>
              <a:t># Save plot as </a:t>
            </a:r>
          </a:p>
          <a:p>
            <a:pPr marL="2286000" lvl="5" indent="0">
              <a:buNone/>
            </a:pPr>
            <a:r>
              <a:rPr lang="en-IN" sz="1600" dirty="0" err="1"/>
              <a:t>PNGpng</a:t>
            </a:r>
            <a:r>
              <a:rPr lang="en-IN" sz="1600" dirty="0"/>
              <a:t>("top_billionaires.png", width = 900, height = 600)</a:t>
            </a:r>
          </a:p>
          <a:p>
            <a:pPr marL="2286000" lvl="5" indent="0">
              <a:buNone/>
            </a:pPr>
            <a:r>
              <a:rPr lang="en-IN" sz="1600" dirty="0"/>
              <a:t># Create </a:t>
            </a:r>
            <a:r>
              <a:rPr lang="en-IN" sz="1600" dirty="0" err="1"/>
              <a:t>barplot</a:t>
            </a:r>
            <a:r>
              <a:rPr lang="en-IN" sz="1600" dirty="0"/>
              <a:t> and store bar </a:t>
            </a:r>
            <a:r>
              <a:rPr lang="en-IN" sz="1600" dirty="0" err="1"/>
              <a:t>midpointsbp</a:t>
            </a:r>
            <a:r>
              <a:rPr lang="en-IN" sz="1600" dirty="0"/>
              <a:t> </a:t>
            </a:r>
          </a:p>
          <a:p>
            <a:pPr marL="2286000" lvl="5" indent="0">
              <a:buNone/>
            </a:pPr>
            <a:r>
              <a:rPr lang="en-IN" sz="1600" dirty="0"/>
              <a:t>&lt;- </a:t>
            </a:r>
            <a:r>
              <a:rPr lang="en-IN" sz="1600" dirty="0" err="1"/>
              <a:t>barplot</a:t>
            </a:r>
            <a:r>
              <a:rPr lang="en-IN" sz="1600" dirty="0"/>
              <a:t>(A, </a:t>
            </a:r>
            <a:r>
              <a:rPr lang="en-IN" sz="1600" dirty="0" err="1"/>
              <a:t>names.arg</a:t>
            </a:r>
            <a:r>
              <a:rPr lang="en-IN" sz="1600" dirty="0"/>
              <a:t> = B, </a:t>
            </a:r>
            <a:r>
              <a:rPr lang="en-IN" sz="1600" dirty="0" err="1"/>
              <a:t>horiz</a:t>
            </a:r>
            <a:r>
              <a:rPr lang="en-IN" sz="1600" dirty="0"/>
              <a:t> = TRUE, </a:t>
            </a:r>
            <a:r>
              <a:rPr lang="en-IN" sz="1600" dirty="0" err="1"/>
              <a:t>xlab</a:t>
            </a:r>
            <a:r>
              <a:rPr lang="en-IN" sz="1600" dirty="0"/>
              <a:t> = "Net Worth (in billions)", col = "blue", main = "Top Ten Billionaires", las = 1, </a:t>
            </a:r>
            <a:r>
              <a:rPr lang="en-IN" sz="1600" dirty="0" err="1"/>
              <a:t>cex.names</a:t>
            </a:r>
            <a:r>
              <a:rPr lang="en-IN" sz="1600" dirty="0"/>
              <a:t> = 0.7)</a:t>
            </a:r>
          </a:p>
          <a:p>
            <a:pPr marL="2286000" lvl="5" indent="0">
              <a:buNone/>
            </a:pPr>
            <a:r>
              <a:rPr lang="en-IN" sz="1600" dirty="0"/>
              <a:t># Add net worth values at end of </a:t>
            </a:r>
            <a:r>
              <a:rPr lang="en-IN" sz="1600" dirty="0" err="1"/>
              <a:t>barstext</a:t>
            </a:r>
            <a:endParaRPr lang="en-IN" sz="1600" dirty="0"/>
          </a:p>
          <a:p>
            <a:pPr marL="2286000" lvl="5" indent="0">
              <a:buNone/>
            </a:pPr>
            <a:r>
              <a:rPr lang="en-IN" sz="1600" dirty="0"/>
              <a:t>(x = A + 5, y = </a:t>
            </a:r>
            <a:r>
              <a:rPr lang="en-IN" sz="1600" dirty="0" err="1"/>
              <a:t>bp</a:t>
            </a:r>
            <a:r>
              <a:rPr lang="en-IN" sz="1600" dirty="0"/>
              <a:t>, labels = A, </a:t>
            </a:r>
            <a:r>
              <a:rPr lang="en-IN" sz="1600" dirty="0" err="1"/>
              <a:t>cex</a:t>
            </a:r>
            <a:r>
              <a:rPr lang="en-IN" sz="1600" dirty="0"/>
              <a:t> = 0.8, col = "black")# Finish </a:t>
            </a:r>
            <a:r>
              <a:rPr lang="en-IN" sz="1600" dirty="0" err="1"/>
              <a:t>savingdev.off</a:t>
            </a:r>
            <a:r>
              <a:rPr lang="en-IN" sz="2000" b="1" i="1" dirty="0"/>
              <a:t>()</a:t>
            </a:r>
            <a:endParaRPr lang="en-IN" sz="2400" b="1" i="1" dirty="0" smtClean="0"/>
          </a:p>
        </p:txBody>
      </p:sp>
    </p:spTree>
    <p:extLst>
      <p:ext uri="{BB962C8B-B14F-4D97-AF65-F5344CB8AC3E}">
        <p14:creationId xmlns:p14="http://schemas.microsoft.com/office/powerpoint/2010/main" val="37160302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0053" y="281354"/>
            <a:ext cx="10032023" cy="6005146"/>
          </a:xfrm>
          <a:prstGeom prst="rect">
            <a:avLst/>
          </a:prstGeom>
        </p:spPr>
      </p:pic>
    </p:spTree>
    <p:extLst>
      <p:ext uri="{BB962C8B-B14F-4D97-AF65-F5344CB8AC3E}">
        <p14:creationId xmlns:p14="http://schemas.microsoft.com/office/powerpoint/2010/main" val="350373601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275</TotalTime>
  <Words>671</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Top billionaire data analysis</vt:lpstr>
      <vt:lpstr>This code creates a horizontal barplot of the top ten billionaires’ net worth. It labels each bar with its corresponding value for better clarity. The bars are labeled with the names of the billionaires and the actual net worth values  are shown to the right of the bars. </vt:lpstr>
      <vt:lpstr>PowerPoint Presentation</vt:lpstr>
      <vt:lpstr>This code creates a visually enhanced pie chart showing the top three countries by value (e.g., net worth).  Each slice displays both the country name and its percentage contribution to the total. Let me know if you want to customize colors or add a legend!</vt:lpstr>
      <vt:lpstr>PowerPoint Presentation</vt:lpstr>
      <vt:lpstr>Here's a detailed explanation hich creates a vertical barplot of top industry net worths, along with data labels on each bar. This script creates a clear vertical barplot of net worths by industry/company. It includes: Yellow bars Vertical x-axis labels Blue value labels placed on top of each bar </vt:lpstr>
      <vt:lpstr>PowerPoint Presentation</vt:lpstr>
      <vt:lpstr>display the country names as X-axis labels. Your original code creates a red line+point chart of net worth values, but doesn’t label the countries. By modifying the x-axis, you can make the chart more informative by showing the actual country names.</vt:lpstr>
      <vt:lpstr>PowerPoint Presentation</vt:lpstr>
      <vt:lpstr>This code creates a clean barplot showing the net worths of the top five billionaires, with: Blue bars Labeled names on the x-axis Net worth numbers displayed above each bar</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12</cp:revision>
  <dcterms:created xsi:type="dcterms:W3CDTF">2025-04-13T13:50:32Z</dcterms:created>
  <dcterms:modified xsi:type="dcterms:W3CDTF">2025-04-16T20:42:22Z</dcterms:modified>
</cp:coreProperties>
</file>